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642938"/>
            <a:ext cx="7715250" cy="428625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37474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0125" y="1100138"/>
            <a:ext cx="7429500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 CONTENT INGESTION &amp; CLEANUP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1000125" y="2278856"/>
            <a:ext cx="7429500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TerAustralis Incognita: Enhancing Completeness and Integrity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00125" y="3750469"/>
            <a:ext cx="3564731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Prepared by:</a:t>
            </a:r>
            <a:r>
              <a:rPr lang="en-US" sz="12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 Manus AI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857750" y="3750469"/>
            <a:ext cx="3571875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Date:</a:t>
            </a:r>
            <a:r>
              <a:rPr lang="en-US" sz="12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 July 25,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457200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37474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2938" y="500063"/>
            <a:ext cx="8072438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 STATE: A FRAGMENTED ARCHIVE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42938" y="2130623"/>
            <a:ext cx="78581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The TerAustralis Incognita website was identified as having significant content gaps and navigational issues.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6509" y="2534245"/>
            <a:ext cx="2355261" cy="292894"/>
          </a:xfrm>
          <a:prstGeom prst="rect">
            <a:avLst/>
          </a:prstGeom>
          <a:solidFill>
            <a:srgbClr val="1A237E">
              <a:alpha val="10000"/>
            </a:srgbClr>
          </a:solidFill>
          <a:ln w="9144">
            <a:solidFill>
              <a:srgbClr val="3747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6509" y="2534245"/>
            <a:ext cx="2355261" cy="292894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01770" y="2534245"/>
            <a:ext cx="5495720" cy="292894"/>
          </a:xfrm>
          <a:prstGeom prst="rect">
            <a:avLst/>
          </a:prstGeom>
          <a:solidFill>
            <a:srgbClr val="1A237E">
              <a:alpha val="10000"/>
            </a:srgbClr>
          </a:solidFill>
          <a:ln w="9144">
            <a:solidFill>
              <a:srgbClr val="3747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01770" y="2534245"/>
            <a:ext cx="5495720" cy="292894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Identified Issue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7238" y="3028950"/>
            <a:ext cx="110460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Missing Content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01770" y="2823567"/>
            <a:ext cx="5495720" cy="478631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Over 100 markdown documents (mythos, tech specs, governance) were inaccessible.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7238" y="3416498"/>
            <a:ext cx="73351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01770" y="3302198"/>
            <a:ext cx="5495720" cy="296466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Critical paths, such as the Starline Technical Architecture, resulted in 404 errors.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57238" y="3804047"/>
            <a:ext cx="8033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Consistency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001770" y="3598664"/>
            <a:ext cx="5495720" cy="478631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Discrepancies between filenames and referenced slugs caused widespread link failures.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457200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37474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2938" y="500063"/>
            <a:ext cx="8072438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IDENTIFICATION &amp; INITIAL FIXES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42938" y="1790291"/>
            <a:ext cx="2326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DIAGNOSTICS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2938" y="2161766"/>
            <a:ext cx="23264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Audit of six GitHub repositories to cross-reference available files against served content.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2938" y="2947578"/>
            <a:ext cx="23264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Verification of link integrity and build logs to pinpoint failures.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405169" y="1790291"/>
            <a:ext cx="5095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CORRECTIVE ACTIONS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405169" y="2276066"/>
            <a:ext cx="509589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Filename Alignment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05169" y="2515381"/>
            <a:ext cx="51775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Renamed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922923" y="2493950"/>
            <a:ext cx="15431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CONSENT-TRANSPORT.md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66029" y="2515381"/>
            <a:ext cx="16436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to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630391" y="2493950"/>
            <a:ext cx="26232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STARLINE-TECHNICAL-ARCHITECTURE.md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253599" y="2515381"/>
            <a:ext cx="13221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to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405169" y="2695370"/>
            <a:ext cx="67491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fix 404 error.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405169" y="3150394"/>
            <a:ext cx="509589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URL Correction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05169" y="3389709"/>
            <a:ext cx="71800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Fixed typo in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23172" y="3368278"/>
            <a:ext cx="8487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GITHUB_BLOB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971883" y="3389709"/>
            <a:ext cx="6774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URL within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49367" y="3368278"/>
            <a:ext cx="5400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docs.js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189445" y="3389709"/>
            <a:ext cx="194248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to ensure accurate repository linking.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405169" y="3844733"/>
            <a:ext cx="509589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Build Resilience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405169" y="4084048"/>
            <a:ext cx="51072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Modified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915891" y="4062617"/>
            <a:ext cx="12344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svelte.config.js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150365" y="4084048"/>
            <a:ext cx="306394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to tolerate dead links and missing IDs during prerendering.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457200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37474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2938" y="500063"/>
            <a:ext cx="8072382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COMPREHENSIVE CONTENT INGESTION PROCESS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71500" y="1959173"/>
            <a:ext cx="246933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71500" y="2105620"/>
            <a:ext cx="246933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ARCHIVE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" y="2391370"/>
            <a:ext cx="2469338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Action:</a:t>
            </a:r>
            <a:r>
              <a:rPr lang="en-US" sz="90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 Synchronized the numbered knowledge </a:t>
            </a:r>
            <a:r>
              <a:rPr lang="en-US" sz="90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base (00-INDEX to 12-CONTRIBUTING) from </a:t>
            </a:r>
            <a:r>
              <a:rPr lang="en-US" sz="90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the Architecture Archive repository.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71500" y="3045023"/>
            <a:ext cx="2469338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Ensured foundational project management and structural documentation were integrated into the site content.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3734395"/>
            <a:ext cx="2469338" cy="37861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Impact: Established a definitive technical and organizational baseline for the public archive.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333731" y="1959173"/>
            <a:ext cx="246933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02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333731" y="2105620"/>
            <a:ext cx="246933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LORE &amp; TRANSMISSIONS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33731" y="2391370"/>
            <a:ext cx="2469338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Action:</a:t>
            </a:r>
            <a:r>
              <a:rPr lang="en-US" sz="90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 Ingested mythic texts and Starline </a:t>
            </a:r>
            <a:r>
              <a:rPr lang="en-US" sz="90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Transmissions (Fermi's Silent Line, Red Dust </a:t>
            </a:r>
            <a:r>
              <a:rPr lang="en-US" sz="90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Axis, Wire Skull Memory) from the primary </a:t>
            </a:r>
            <a:r>
              <a:rPr lang="en-US" sz="90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mythos repository.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333731" y="3227189"/>
            <a:ext cx="246933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Populated the site with narrative content previously buried in repository subfolders.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33731" y="3734395"/>
            <a:ext cx="2469338" cy="37861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Impact: Significantly expanded the thematic depth and storytelling reach of the digital presence.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095963" y="1959173"/>
            <a:ext cx="2476481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03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095963" y="2105620"/>
            <a:ext cx="2476481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SEVEN SISTERS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95963" y="2391370"/>
            <a:ext cx="2476481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Action:</a:t>
            </a:r>
            <a:r>
              <a:rPr lang="en-US" sz="90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 Migrated active protocol documents from </a:t>
            </a:r>
            <a:r>
              <a:rPr lang="en-US" sz="90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archival snapshots to the live site content </a:t>
            </a:r>
            <a:r>
              <a:rPr lang="en-US" sz="90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directory.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095963" y="3045023"/>
            <a:ext cx="2476481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Branding Adjustment:</a:t>
            </a:r>
            <a:r>
              <a:rPr lang="en-US" sz="90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 Systematically removed </a:t>
            </a:r>
            <a:r>
              <a:rPr lang="en-US" sz="90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"Songline" from all filenames and internal headers </a:t>
            </a:r>
            <a:r>
              <a:rPr lang="en-US" sz="90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to align with updated vision.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095963" y="3734395"/>
            <a:ext cx="2476481" cy="378619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Impact: Integrated core technical protocols while strictly adhering to new branding requirements.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457200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37474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2938" y="500063"/>
            <a:ext cx="8072438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&amp; IMPACT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42938" y="1618059"/>
            <a:ext cx="370760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COMPARATIVE METRICS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6509" y="1957388"/>
            <a:ext cx="1142386" cy="239316"/>
          </a:xfrm>
          <a:prstGeom prst="rect">
            <a:avLst/>
          </a:prstGeom>
          <a:solidFill>
            <a:srgbClr val="1A237E">
              <a:alpha val="5000"/>
            </a:srgbClr>
          </a:solidFill>
          <a:ln w="9144">
            <a:solidFill>
              <a:srgbClr val="3747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6509" y="1957388"/>
            <a:ext cx="1142386" cy="239316"/>
          </a:xfrm>
          <a:prstGeom prst="rect">
            <a:avLst/>
          </a:prstGeom>
          <a:noFill/>
          <a:ln/>
        </p:spPr>
        <p:txBody>
          <a:bodyPr wrap="none" lIns="102108" tIns="102108" rIns="102108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788895" y="1957388"/>
            <a:ext cx="1316850" cy="239316"/>
          </a:xfrm>
          <a:prstGeom prst="rect">
            <a:avLst/>
          </a:prstGeom>
          <a:solidFill>
            <a:srgbClr val="1A237E">
              <a:alpha val="5000"/>
            </a:srgbClr>
          </a:solidFill>
          <a:ln w="9144">
            <a:solidFill>
              <a:srgbClr val="3747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788895" y="1957388"/>
            <a:ext cx="1316850" cy="239316"/>
          </a:xfrm>
          <a:prstGeom prst="rect">
            <a:avLst/>
          </a:prstGeom>
          <a:noFill/>
          <a:ln/>
        </p:spPr>
        <p:txBody>
          <a:bodyPr wrap="square" lIns="102108" tIns="102108" rIns="102108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05745" y="1957388"/>
            <a:ext cx="1241227" cy="239316"/>
          </a:xfrm>
          <a:prstGeom prst="rect">
            <a:avLst/>
          </a:prstGeom>
          <a:solidFill>
            <a:srgbClr val="1A237E">
              <a:alpha val="5000"/>
            </a:srgbClr>
          </a:solidFill>
          <a:ln w="9144">
            <a:solidFill>
              <a:srgbClr val="3747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05745" y="1957388"/>
            <a:ext cx="1241227" cy="239316"/>
          </a:xfrm>
          <a:prstGeom prst="rect">
            <a:avLst/>
          </a:prstGeom>
          <a:noFill/>
          <a:ln/>
        </p:spPr>
        <p:txBody>
          <a:bodyPr wrap="none" lIns="102108" tIns="102108" rIns="102108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5806" y="2282428"/>
            <a:ext cx="46780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Doc Size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788895" y="2189559"/>
            <a:ext cx="1316850" cy="242888"/>
          </a:xfrm>
          <a:prstGeom prst="rect">
            <a:avLst/>
          </a:prstGeom>
          <a:noFill/>
          <a:ln/>
        </p:spPr>
        <p:txBody>
          <a:bodyPr wrap="square" lIns="102108" tIns="102108" rIns="102108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104 kB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195042" y="2282428"/>
            <a:ext cx="38235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348 kB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35806" y="2525316"/>
            <a:ext cx="56541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Core Docs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788895" y="2432447"/>
            <a:ext cx="1316850" cy="242888"/>
          </a:xfrm>
          <a:prstGeom prst="rect">
            <a:avLst/>
          </a:prstGeom>
          <a:noFill/>
          <a:ln/>
        </p:spPr>
        <p:txBody>
          <a:bodyPr wrap="square" lIns="102108" tIns="102108" rIns="102108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Missing 100+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195042" y="2525316"/>
            <a:ext cx="6608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All Ingested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35806" y="2768203"/>
            <a:ext cx="59404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404 Errors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788895" y="2675334"/>
            <a:ext cx="1316850" cy="242888"/>
          </a:xfrm>
          <a:prstGeom prst="rect">
            <a:avLst/>
          </a:prstGeom>
          <a:noFill/>
          <a:ln/>
        </p:spPr>
        <p:txBody>
          <a:bodyPr wrap="square" lIns="102108" tIns="102108" rIns="102108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Multiple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195042" y="2768203"/>
            <a:ext cx="4929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Resolved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35806" y="3011091"/>
            <a:ext cx="3002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Build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788895" y="2918222"/>
            <a:ext cx="1316850" cy="242888"/>
          </a:xfrm>
          <a:prstGeom prst="rect">
            <a:avLst/>
          </a:prstGeom>
          <a:noFill/>
          <a:ln/>
        </p:spPr>
        <p:txBody>
          <a:bodyPr wrap="square" lIns="102108" tIns="102108" rIns="102108" bIns="0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Vulnerable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195042" y="3011091"/>
            <a:ext cx="4785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Resilient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2938" y="3307556"/>
            <a:ext cx="370760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The ingestion process resulted in a 234% increase in served content and a fully stabilized build environment.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786313" y="1618059"/>
            <a:ext cx="37147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DOCUMENTATION GROWTH (KB)</a:t>
            </a:r>
            <a:endParaRPr lang="en-US" sz="1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3" y="1953816"/>
            <a:ext cx="3707606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457200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37474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2938" y="500063"/>
            <a:ext cx="8072438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CONCLUSION: A SYNCHRONIZED LATTICE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1143000" y="1693515"/>
            <a:ext cx="6858000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The TerAustralis Incognita website now accurately reflects the comprehensive vision, lore, and technical architecture of the project. By integrating over 200% more content and resolving critical stability issues, the digital presence of the Crystal Core is now robust and complete.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43000" y="3310682"/>
            <a:ext cx="2409230" cy="167878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3310682"/>
            <a:ext cx="2409230" cy="167878"/>
          </a:xfrm>
          <a:prstGeom prst="rect">
            <a:avLst/>
          </a:prstGeom>
          <a:noFill/>
          <a:ln/>
        </p:spPr>
        <p:txBody>
          <a:bodyPr wrap="square" lIns="127508" tIns="42545" rIns="127508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STATUS: FULLY OPERATIONAL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43000" y="3764310"/>
            <a:ext cx="6858000" cy="900113"/>
          </a:xfrm>
          <a:prstGeom prst="rect">
            <a:avLst/>
          </a:prstGeom>
          <a:noFill/>
          <a:ln/>
        </p:spPr>
        <p:txBody>
          <a:bodyPr wrap="square" lIns="0" tIns="255143" rIns="0" bIns="255143" rtlCol="0" anchor="t">
            <a:spAutoFit/>
          </a:bodyPr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237E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"Non Solus — Not Alone. The First Gate is open, and the music of the spheres begins to play."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457200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37474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2938" y="500063"/>
            <a:ext cx="8072438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 &amp; SOURCES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646509" y="2056842"/>
            <a:ext cx="452958" cy="294289"/>
          </a:xfrm>
          <a:prstGeom prst="rect">
            <a:avLst/>
          </a:prstGeom>
          <a:solidFill>
            <a:srgbClr val="1A237E">
              <a:alpha val="10000"/>
            </a:srgbClr>
          </a:solidFill>
          <a:ln w="9144">
            <a:solidFill>
              <a:srgbClr val="3747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6509" y="2056842"/>
            <a:ext cx="452958" cy="294289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099468" y="2056842"/>
            <a:ext cx="7398023" cy="294289"/>
          </a:xfrm>
          <a:prstGeom prst="rect">
            <a:avLst/>
          </a:prstGeom>
          <a:solidFill>
            <a:srgbClr val="1A237E">
              <a:alpha val="10000"/>
            </a:srgbClr>
          </a:solidFill>
          <a:ln w="9144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9468" y="2056842"/>
            <a:ext cx="7398023" cy="294289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TITLE &amp; DESCRIPTION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6509" y="2347559"/>
            <a:ext cx="452958" cy="649970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10196" y="2476147"/>
            <a:ext cx="232785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TerAustralis Incognita GitHub Repository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10196" y="2656136"/>
            <a:ext cx="246593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STARLINE-TECHNICAL-ARCHITECTURE.md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210196" y="2853984"/>
            <a:ext cx="7176567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A237E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https://github.com/CrystalArchitect/TerAustralis-Incognita/blob/main/docs/architecture/STARLINE-TECHNICAL-ARCHITECTURE.md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46509" y="2997529"/>
            <a:ext cx="452958" cy="649970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210196" y="3126116"/>
            <a:ext cx="219195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TerAustralis Incognita Code Repository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210196" y="3306105"/>
            <a:ext cx="193818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src/lib/docs.js - Documentation Logic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210196" y="3503954"/>
            <a:ext cx="7176567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A237E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https://github.com/CrystalArchitect/TerAustralis-Incognita-Code/blob/main/vision/site/src/lib/docs.js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46509" y="3647498"/>
            <a:ext cx="452958" cy="649970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6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210196" y="3776086"/>
            <a:ext cx="13821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7474F"/>
                </a:solidFill>
                <a:latin typeface="Crimson Text Bold" pitchFamily="34" charset="0"/>
                <a:ea typeface="Crimson Text Bold" pitchFamily="34" charset="-122"/>
                <a:cs typeface="Crimson Text Bold" pitchFamily="34" charset="-120"/>
              </a:rPr>
              <a:t>SvelteKit Documentation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210196" y="3956075"/>
            <a:ext cx="171924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i="1" dirty="0">
                <a:solidFill>
                  <a:srgbClr val="37474F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Prerender Configuration Options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210196" y="4153923"/>
            <a:ext cx="7176567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1A237E"/>
                </a:solidFill>
                <a:latin typeface="Crimson Text" pitchFamily="34" charset="0"/>
                <a:ea typeface="Crimson Text" pitchFamily="34" charset="-122"/>
                <a:cs typeface="Crimson Text" pitchFamily="34" charset="-120"/>
              </a:rPr>
              <a:t>https://svelte.dev/docs/kit/configuration#prerender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2026-07-28T13:57:39Z</dcterms:created>
  <dcterms:modified xsi:type="dcterms:W3CDTF">2026-07-28T13:57:39Z</dcterms:modified>
</cp:coreProperties>
</file>